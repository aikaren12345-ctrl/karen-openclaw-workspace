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F5DC"/>
                </a:solidFill>
              </a:defRPr>
            </a:pPr>
            <a:r>
              <a:t>The Culture of the Chop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B0000"/>
                </a:solidFill>
              </a:defRPr>
            </a:pPr>
            <a:r>
              <a:t>Organizational Culture in Butcher Shops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DC"/>
                </a:solidFill>
              </a:defRPr>
            </a:pPr>
            <a:r>
              <a:t>What is Organizational Culture?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The personality of the organization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How we do things, what's accepted and what's not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Norms, traditions, and rituals that define a workplace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Learned and passed down from master to apprentice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Built on skill, tradition, and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DC"/>
                </a:solidFill>
              </a:defRPr>
            </a:pPr>
            <a:r>
              <a:t>Handy's Four Cultural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POWER CULTURE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Semi-autocratic, head butcher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makes decisions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Also: Megalomaniac managers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'saving butchery'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ROLE CULTURE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'This is how we've always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done it'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Also: Margin-obsessed owners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following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TASK CULTURE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'Whatever it takes' during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busy periods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Also: Singing and dancing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when staff have right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PERSON-CENTERED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Male-dominated 'get on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with it' attitude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Individual skill matters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Also: Creepy older butchers</a:t>
            </a:r>
          </a:p>
          <a:p>
            <a:pPr>
              <a:spcAft>
                <a:spcPts val="600"/>
              </a:spcAft>
              <a:defRPr sz="1600">
                <a:solidFill>
                  <a:srgbClr val="F5F5DC"/>
                </a:solidFill>
              </a:defRPr>
            </a:pPr>
            <a:r>
              <a:t>• with bad vibes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DC"/>
                </a:solidFill>
              </a:defRPr>
            </a:pPr>
            <a:r>
              <a:t>Six Components of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DC"/>
                </a:solidFill>
              </a:defRPr>
            </a:pPr>
            <a:r>
              <a:t>Quality meat, customer trust, craftsmanship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NORMS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48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DC"/>
                </a:solidFill>
              </a:defRPr>
            </a:pPr>
            <a:r>
              <a:t>Don't touch another's knife • Clean as you go • Never sell what you wouldn't serve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ARTEFACTS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DC"/>
                </a:solidFill>
              </a:defRPr>
            </a:pPr>
            <a:r>
              <a:t>White coats, sawdust floor, meat hooks, family block (3 generations)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ROUTINES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886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DC"/>
                </a:solidFill>
              </a:defRPr>
            </a:pPr>
            <a:r>
              <a:t>Opening prep, lunch rush, end-of-day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SYMBOLS &amp;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DC"/>
                </a:solidFill>
              </a:defRPr>
            </a:pPr>
            <a:r>
              <a:t>'Remember when Jimmy broke his saw on that frozen turkey?'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CEREMONIES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23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DC"/>
                </a:solidFill>
              </a:defRPr>
            </a:pPr>
            <a:r>
              <a:t>Christmas order book opening • First proper knife for apprentice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DC"/>
                </a:solidFill>
              </a:defRPr>
            </a:pPr>
            <a:r>
              <a:t>Deal &amp; Kennedy's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0000"/>
                </a:solidFill>
              </a:defRPr>
            </a:pPr>
            <a:r>
              <a:t>WORK HARD / PLAY HARD</a:t>
            </a:r>
          </a:p>
          <a:p>
            <a:pPr>
              <a:spcAft>
                <a:spcPts val="800"/>
              </a:spcAft>
              <a:defRPr sz="2000">
                <a:solidFill>
                  <a:srgbClr val="F5F5DC"/>
                </a:solidFill>
              </a:defRPr>
            </a:pPr>
            <a:r>
              <a:t>• Low risk, high immediate feedback</a:t>
            </a:r>
          </a:p>
          <a:p>
            <a:pPr>
              <a:spcAft>
                <a:spcPts val="800"/>
              </a:spcAft>
              <a:defRPr sz="2000">
                <a:solidFill>
                  <a:srgbClr val="F5F5DC"/>
                </a:solidFill>
              </a:defRPr>
            </a:pPr>
            <a:r>
              <a:t>• Customer tells you straight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0000"/>
                </a:solidFill>
              </a:defRPr>
            </a:pPr>
            <a:r>
              <a:t>PROCESS CULTURE</a:t>
            </a:r>
          </a:p>
          <a:p>
            <a:pPr>
              <a:spcAft>
                <a:spcPts val="800"/>
              </a:spcAft>
              <a:defRPr sz="2000">
                <a:solidFill>
                  <a:srgbClr val="F5F5DC"/>
                </a:solidFill>
              </a:defRPr>
            </a:pPr>
            <a:r>
              <a:t>• Food safety, HACCP, traceability</a:t>
            </a:r>
          </a:p>
          <a:p>
            <a:pPr>
              <a:spcAft>
                <a:spcPts val="800"/>
              </a:spcAft>
              <a:defRPr sz="2000">
                <a:solidFill>
                  <a:srgbClr val="F5F5DC"/>
                </a:solidFill>
              </a:defRPr>
            </a:pPr>
            <a:r>
              <a:t>• Step by step, no shortcuts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0000"/>
                </a:solidFill>
              </a:defRPr>
            </a:pPr>
            <a:r>
              <a:t>TOUGH GUY / MACHO</a:t>
            </a:r>
          </a:p>
          <a:p>
            <a:pPr>
              <a:spcAft>
                <a:spcPts val="800"/>
              </a:spcAft>
              <a:defRPr sz="2000">
                <a:solidFill>
                  <a:srgbClr val="F5F5DC"/>
                </a:solidFill>
              </a:defRPr>
            </a:pPr>
            <a:r>
              <a:t>• High stress during busy periods</a:t>
            </a:r>
          </a:p>
          <a:p>
            <a:pPr>
              <a:spcAft>
                <a:spcPts val="800"/>
              </a:spcAft>
              <a:defRPr sz="2000">
                <a:solidFill>
                  <a:srgbClr val="F5F5DC"/>
                </a:solidFill>
              </a:defRPr>
            </a:pPr>
            <a:r>
              <a:t>• Male-dominated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DC"/>
                </a:solidFill>
              </a:defRPr>
            </a:pPr>
            <a:r>
              <a:t>Socialization in the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503723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1. PRE-ARRIVAL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Watched dad/grandad</a:t>
            </a:r>
          </a:p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Think they know what they're getting into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3657600" cy="5029200"/>
          </a:xfrm>
          <a:prstGeom prst="rect">
            <a:avLst/>
          </a:prstGeom>
          <a:solidFill>
            <a:srgbClr val="503723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2. ENCOUNTER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Reality hits: cold, early starts, physical work</a:t>
            </a:r>
          </a:p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Sometimes: bad vibes from creepy older butcher</a:t>
            </a:r>
          </a:p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Some don't make it past week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3657600" cy="5029200"/>
          </a:xfrm>
          <a:prstGeom prst="rect">
            <a:avLst/>
          </a:prstGeom>
          <a:solidFill>
            <a:srgbClr val="503723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4630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0000"/>
                </a:solidFill>
              </a:defRPr>
            </a:pPr>
            <a:r>
              <a:t>3. METAMORPHOSIS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Adapt and learn</a:t>
            </a:r>
          </a:p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Become part of the team (if culture lets them in)</a:t>
            </a:r>
          </a:p>
          <a:p>
            <a:pPr>
              <a:spcAft>
                <a:spcPts val="1000"/>
              </a:spcAft>
              <a:defRPr sz="1600">
                <a:solidFill>
                  <a:srgbClr val="F5F5DC"/>
                </a:solidFill>
              </a:defRPr>
            </a:pPr>
            <a:r>
              <a:t>• Eventually pass it on to next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D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Organizational culture isn't just for corporate boardrooms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It's alive in your local butcher shop—but it's complex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Can be singing-and-dancing camaraderie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Or toxic environment of margin-obsessed owner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Understanding culture explains why some thrive, others struggle</a:t>
            </a:r>
          </a:p>
          <a:p>
            <a:pPr>
              <a:spcAft>
                <a:spcPts val="1200"/>
              </a:spcAft>
              <a:defRPr sz="2400">
                <a:solidFill>
                  <a:srgbClr val="F5F5DC"/>
                </a:solidFill>
              </a:defRPr>
            </a:pPr>
            <a:r>
              <a:t>• It's about people—and whether they want to show up to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F5D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B000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